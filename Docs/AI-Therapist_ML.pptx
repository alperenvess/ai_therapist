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5" r:id="rId6"/>
  </p:sldIdLst>
  <p:sldSz cx="18288000" cy="10287000"/>
  <p:notesSz cx="6858000" cy="9144000"/>
  <p:embeddedFontLst>
    <p:embeddedFont>
      <p:font typeface="Academy" panose="02000000000000000000" pitchFamily="2" charset="0"/>
      <p:regular r:id="rId8"/>
    </p:embeddedFont>
    <p:embeddedFont>
      <p:font typeface="Codec Pro Bold" pitchFamily="2" charset="0"/>
      <p:regular r:id="rId9"/>
      <p:bold r:id="rId10"/>
    </p:embeddedFont>
    <p:embeddedFont>
      <p:font typeface="Poppins" pitchFamily="2" charset="77"/>
      <p:regular r:id="rId11"/>
      <p:bold r:id="rId12"/>
      <p:italic r:id="rId13"/>
      <p:boldItalic r:id="rId14"/>
    </p:embeddedFont>
    <p:embeddedFont>
      <p:font typeface="Poppins Bold" pitchFamily="2" charset="77"/>
      <p:regular r:id="rId15"/>
      <p:bold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 autoAdjust="0"/>
    <p:restoredTop sz="94557" autoAdjust="0"/>
  </p:normalViewPr>
  <p:slideViewPr>
    <p:cSldViewPr>
      <p:cViewPr varScale="1">
        <p:scale>
          <a:sx n="70" d="100"/>
          <a:sy n="70" d="100"/>
        </p:scale>
        <p:origin x="808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9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10" Type="http://schemas.openxmlformats.org/officeDocument/2006/relationships/font" Target="fonts/font3.fntdata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063A78-F6AF-6E43-8BE2-4F4D298C0EB5}" type="datetimeFigureOut">
              <a:rPr lang="en-PL" smtClean="0"/>
              <a:t>15/01/2025</a:t>
            </a:fld>
            <a:endParaRPr lang="en-P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5C30F8-B9CB-2746-A831-DA141C83EC19}" type="slidenum">
              <a:rPr lang="en-PL" smtClean="0"/>
              <a:t>‹#›</a:t>
            </a:fld>
            <a:endParaRPr lang="en-PL"/>
          </a:p>
        </p:txBody>
      </p:sp>
    </p:spTree>
    <p:extLst>
      <p:ext uri="{BB962C8B-B14F-4D97-AF65-F5344CB8AC3E}">
        <p14:creationId xmlns:p14="http://schemas.microsoft.com/office/powerpoint/2010/main" val="26851988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5C30F8-B9CB-2746-A831-DA141C83EC19}" type="slidenum">
              <a:rPr lang="en-PL" smtClean="0"/>
              <a:t>3</a:t>
            </a:fld>
            <a:endParaRPr lang="en-PL"/>
          </a:p>
        </p:txBody>
      </p:sp>
    </p:spTree>
    <p:extLst>
      <p:ext uri="{BB962C8B-B14F-4D97-AF65-F5344CB8AC3E}">
        <p14:creationId xmlns:p14="http://schemas.microsoft.com/office/powerpoint/2010/main" val="20669927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image" Target="../media/image24.sv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sv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0" Type="http://schemas.openxmlformats.org/officeDocument/2006/relationships/image" Target="../media/image22.svg"/><Relationship Id="rId4" Type="http://schemas.openxmlformats.org/officeDocument/2006/relationships/image" Target="../media/image16.svg"/><Relationship Id="rId9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333" b="-9333"/>
            </a:stretch>
          </a:blipFill>
        </p:spPr>
        <p:txBody>
          <a:bodyPr/>
          <a:lstStyle/>
          <a:p>
            <a:endParaRPr lang="en-PL"/>
          </a:p>
        </p:txBody>
      </p:sp>
      <p:sp>
        <p:nvSpPr>
          <p:cNvPr id="3" name="Freeform 3"/>
          <p:cNvSpPr/>
          <p:nvPr/>
        </p:nvSpPr>
        <p:spPr>
          <a:xfrm flipH="1" flipV="1">
            <a:off x="-4345752" y="-825227"/>
            <a:ext cx="11112227" cy="11112227"/>
          </a:xfrm>
          <a:custGeom>
            <a:avLst/>
            <a:gdLst/>
            <a:ahLst/>
            <a:cxnLst/>
            <a:rect l="l" t="t" r="r" b="b"/>
            <a:pathLst>
              <a:path w="11112227" h="11112227">
                <a:moveTo>
                  <a:pt x="11112226" y="11112227"/>
                </a:moveTo>
                <a:lnTo>
                  <a:pt x="0" y="11112227"/>
                </a:lnTo>
                <a:lnTo>
                  <a:pt x="0" y="0"/>
                </a:lnTo>
                <a:lnTo>
                  <a:pt x="11112226" y="0"/>
                </a:lnTo>
                <a:lnTo>
                  <a:pt x="11112226" y="11112227"/>
                </a:lnTo>
                <a:close/>
              </a:path>
            </a:pathLst>
          </a:custGeom>
          <a:blipFill>
            <a:blip r:embed="rId3">
              <a:alphaModFix amt="23000"/>
            </a:blip>
            <a:stretch>
              <a:fillRect/>
            </a:stretch>
          </a:blipFill>
        </p:spPr>
        <p:txBody>
          <a:bodyPr/>
          <a:lstStyle/>
          <a:p>
            <a:endParaRPr lang="en-PL"/>
          </a:p>
        </p:txBody>
      </p:sp>
      <p:sp>
        <p:nvSpPr>
          <p:cNvPr id="4" name="TextBox 4"/>
          <p:cNvSpPr txBox="1"/>
          <p:nvPr/>
        </p:nvSpPr>
        <p:spPr>
          <a:xfrm>
            <a:off x="2942978" y="3460743"/>
            <a:ext cx="8529915" cy="2879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341"/>
              </a:lnSpc>
            </a:pPr>
            <a:r>
              <a:rPr lang="en-US" sz="11120">
                <a:solidFill>
                  <a:srgbClr val="FFFFFF"/>
                </a:solidFill>
                <a:latin typeface="Codec Pro Bold"/>
              </a:rPr>
              <a:t>Artificial Intelligence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942978" y="6622051"/>
            <a:ext cx="9209333" cy="7547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66"/>
              </a:lnSpc>
              <a:spcBef>
                <a:spcPct val="0"/>
              </a:spcBef>
            </a:pPr>
            <a:r>
              <a:rPr lang="en-US" sz="2118" dirty="0">
                <a:solidFill>
                  <a:srgbClr val="FFFFFF"/>
                </a:solidFill>
                <a:latin typeface="Poppins"/>
              </a:rPr>
              <a:t>This presentation will </a:t>
            </a:r>
            <a:r>
              <a:rPr lang="en-US" sz="2118">
                <a:solidFill>
                  <a:srgbClr val="FFFFFF"/>
                </a:solidFill>
                <a:latin typeface="Poppins"/>
              </a:rPr>
              <a:t>introduce my </a:t>
            </a:r>
            <a:r>
              <a:rPr lang="en-US" sz="2118" dirty="0">
                <a:solidFill>
                  <a:srgbClr val="FFFFFF"/>
                </a:solidFill>
                <a:latin typeface="Poppins"/>
              </a:rPr>
              <a:t>Artificial Intelligence project, highlighting its objectives, methodologies, and potential impact.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333" b="-9333"/>
            </a:stretch>
          </a:blipFill>
        </p:spPr>
        <p:txBody>
          <a:bodyPr/>
          <a:lstStyle/>
          <a:p>
            <a:endParaRPr lang="en-PL"/>
          </a:p>
        </p:txBody>
      </p:sp>
      <p:sp>
        <p:nvSpPr>
          <p:cNvPr id="3" name="Freeform 3"/>
          <p:cNvSpPr/>
          <p:nvPr/>
        </p:nvSpPr>
        <p:spPr>
          <a:xfrm>
            <a:off x="-4548933" y="2027215"/>
            <a:ext cx="8857462" cy="11413199"/>
          </a:xfrm>
          <a:custGeom>
            <a:avLst/>
            <a:gdLst/>
            <a:ahLst/>
            <a:cxnLst/>
            <a:rect l="l" t="t" r="r" b="b"/>
            <a:pathLst>
              <a:path w="8857462" h="11413199">
                <a:moveTo>
                  <a:pt x="0" y="0"/>
                </a:moveTo>
                <a:lnTo>
                  <a:pt x="8857462" y="0"/>
                </a:lnTo>
                <a:lnTo>
                  <a:pt x="8857462" y="11413199"/>
                </a:lnTo>
                <a:lnTo>
                  <a:pt x="0" y="1141319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L"/>
          </a:p>
        </p:txBody>
      </p:sp>
      <p:sp>
        <p:nvSpPr>
          <p:cNvPr id="4" name="Freeform 4"/>
          <p:cNvSpPr/>
          <p:nvPr/>
        </p:nvSpPr>
        <p:spPr>
          <a:xfrm>
            <a:off x="11546146" y="2268151"/>
            <a:ext cx="6947432" cy="8485413"/>
          </a:xfrm>
          <a:custGeom>
            <a:avLst/>
            <a:gdLst/>
            <a:ahLst/>
            <a:cxnLst/>
            <a:rect l="l" t="t" r="r" b="b"/>
            <a:pathLst>
              <a:path w="6947432" h="8485413">
                <a:moveTo>
                  <a:pt x="0" y="0"/>
                </a:moveTo>
                <a:lnTo>
                  <a:pt x="6947432" y="0"/>
                </a:lnTo>
                <a:lnTo>
                  <a:pt x="6947432" y="8485413"/>
                </a:lnTo>
                <a:lnTo>
                  <a:pt x="0" y="848541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PL"/>
          </a:p>
        </p:txBody>
      </p:sp>
      <p:sp>
        <p:nvSpPr>
          <p:cNvPr id="5" name="TextBox 5"/>
          <p:cNvSpPr txBox="1"/>
          <p:nvPr/>
        </p:nvSpPr>
        <p:spPr>
          <a:xfrm>
            <a:off x="2328016" y="2484332"/>
            <a:ext cx="8529915" cy="2879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341"/>
              </a:lnSpc>
            </a:pPr>
            <a:r>
              <a:rPr lang="en-US" sz="11120" dirty="0">
                <a:solidFill>
                  <a:srgbClr val="FFFFFF"/>
                </a:solidFill>
                <a:latin typeface="Codec Pro Bold"/>
              </a:rPr>
              <a:t>Project Overview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445308" y="5458640"/>
            <a:ext cx="8107647" cy="30056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386"/>
              </a:lnSpc>
              <a:spcBef>
                <a:spcPct val="0"/>
              </a:spcBef>
            </a:pPr>
            <a:r>
              <a:rPr lang="en-US" sz="2418">
                <a:solidFill>
                  <a:srgbClr val="FFFFFF"/>
                </a:solidFill>
                <a:latin typeface="Poppins"/>
              </a:rPr>
              <a:t>Virtual Therapist is an AI-powered web application designed to provide a confidential and supportive environment for individuals to discuss their thoughts and feelings. Created with the intention of offering flexibility and accessibility, app allows users to engage in therapy-like conversations without the need to talk to a human therapist.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6421303" y="787152"/>
            <a:ext cx="986517" cy="686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27"/>
              </a:lnSpc>
              <a:spcBef>
                <a:spcPct val="0"/>
              </a:spcBef>
            </a:pPr>
            <a:r>
              <a:rPr lang="en-US" sz="3590">
                <a:solidFill>
                  <a:srgbClr val="FFFFFF"/>
                </a:solidFill>
                <a:latin typeface="Academy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3333" b="-3333"/>
            </a:stretch>
          </a:blipFill>
        </p:spPr>
        <p:txBody>
          <a:bodyPr/>
          <a:lstStyle/>
          <a:p>
            <a:endParaRPr lang="en-PL"/>
          </a:p>
        </p:txBody>
      </p:sp>
      <p:sp>
        <p:nvSpPr>
          <p:cNvPr id="3" name="Freeform 3"/>
          <p:cNvSpPr/>
          <p:nvPr/>
        </p:nvSpPr>
        <p:spPr>
          <a:xfrm>
            <a:off x="125907" y="2626078"/>
            <a:ext cx="8075295" cy="8229600"/>
          </a:xfrm>
          <a:custGeom>
            <a:avLst/>
            <a:gdLst/>
            <a:ahLst/>
            <a:cxnLst/>
            <a:rect l="l" t="t" r="r" b="b"/>
            <a:pathLst>
              <a:path w="8075295" h="8229600">
                <a:moveTo>
                  <a:pt x="0" y="0"/>
                </a:moveTo>
                <a:lnTo>
                  <a:pt x="8075295" y="0"/>
                </a:lnTo>
                <a:lnTo>
                  <a:pt x="8075295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80000"/>
            </a:blip>
            <a:stretch>
              <a:fillRect/>
            </a:stretch>
          </a:blipFill>
        </p:spPr>
        <p:txBody>
          <a:bodyPr/>
          <a:lstStyle/>
          <a:p>
            <a:endParaRPr lang="en-PL"/>
          </a:p>
        </p:txBody>
      </p:sp>
      <p:sp>
        <p:nvSpPr>
          <p:cNvPr id="4" name="Freeform 4"/>
          <p:cNvSpPr/>
          <p:nvPr/>
        </p:nvSpPr>
        <p:spPr>
          <a:xfrm rot="5533474">
            <a:off x="-1669490" y="4338406"/>
            <a:ext cx="10630596" cy="3853591"/>
          </a:xfrm>
          <a:custGeom>
            <a:avLst/>
            <a:gdLst/>
            <a:ahLst/>
            <a:cxnLst/>
            <a:rect l="l" t="t" r="r" b="b"/>
            <a:pathLst>
              <a:path w="10630596" h="3853591">
                <a:moveTo>
                  <a:pt x="0" y="0"/>
                </a:moveTo>
                <a:lnTo>
                  <a:pt x="10630596" y="0"/>
                </a:lnTo>
                <a:lnTo>
                  <a:pt x="10630596" y="3853591"/>
                </a:lnTo>
                <a:lnTo>
                  <a:pt x="0" y="385359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PL"/>
          </a:p>
        </p:txBody>
      </p:sp>
      <p:sp>
        <p:nvSpPr>
          <p:cNvPr id="5" name="TextBox 5"/>
          <p:cNvSpPr txBox="1"/>
          <p:nvPr/>
        </p:nvSpPr>
        <p:spPr>
          <a:xfrm>
            <a:off x="8104002" y="2484332"/>
            <a:ext cx="8529915" cy="2879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341"/>
              </a:lnSpc>
            </a:pPr>
            <a:r>
              <a:rPr lang="en-US" sz="11120">
                <a:solidFill>
                  <a:srgbClr val="FFFFFF"/>
                </a:solidFill>
                <a:latin typeface="Codec Pro Bold"/>
              </a:rPr>
              <a:t>Problem Statement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221295" y="5458640"/>
            <a:ext cx="8107647" cy="34721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386"/>
              </a:lnSpc>
              <a:spcBef>
                <a:spcPct val="0"/>
              </a:spcBef>
            </a:pPr>
            <a:r>
              <a:rPr lang="en-US" sz="2418" dirty="0">
                <a:solidFill>
                  <a:srgbClr val="FFFFFF"/>
                </a:solidFill>
                <a:latin typeface="Poppins"/>
              </a:rPr>
              <a:t>A significant portion of the global population lacks adequate access to mental health care due to high costs, stigma, geographical limitations, and a shortage of qualified professionals. Our project aims to overcome these barriers by developing an AI-driven therapy platform that provides accessible, affordable, and effective mental health support for all individuals.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6421303" y="8571420"/>
            <a:ext cx="986517" cy="686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27"/>
              </a:lnSpc>
              <a:spcBef>
                <a:spcPct val="0"/>
              </a:spcBef>
            </a:pPr>
            <a:r>
              <a:rPr lang="en-US" sz="3590">
                <a:solidFill>
                  <a:srgbClr val="FFFFFF"/>
                </a:solidFill>
                <a:latin typeface="Academy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n-PL"/>
          </a:p>
        </p:txBody>
      </p:sp>
      <p:grpSp>
        <p:nvGrpSpPr>
          <p:cNvPr id="3" name="Group 3"/>
          <p:cNvGrpSpPr/>
          <p:nvPr/>
        </p:nvGrpSpPr>
        <p:grpSpPr>
          <a:xfrm>
            <a:off x="2416373" y="3868570"/>
            <a:ext cx="3297826" cy="2855769"/>
            <a:chOff x="0" y="0"/>
            <a:chExt cx="4282440" cy="37084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282440" cy="3708400"/>
            </a:xfrm>
            <a:custGeom>
              <a:avLst/>
              <a:gdLst/>
              <a:ahLst/>
              <a:cxnLst/>
              <a:rect l="l" t="t" r="r" b="b"/>
              <a:pathLst>
                <a:path w="4282440" h="3708400">
                  <a:moveTo>
                    <a:pt x="3211830" y="0"/>
                  </a:moveTo>
                  <a:lnTo>
                    <a:pt x="1070610" y="0"/>
                  </a:lnTo>
                  <a:lnTo>
                    <a:pt x="0" y="1854200"/>
                  </a:lnTo>
                  <a:lnTo>
                    <a:pt x="1070610" y="3708400"/>
                  </a:lnTo>
                  <a:lnTo>
                    <a:pt x="3211830" y="3708400"/>
                  </a:lnTo>
                  <a:lnTo>
                    <a:pt x="4282440" y="1854200"/>
                  </a:lnTo>
                  <a:close/>
                </a:path>
              </a:pathLst>
            </a:custGeom>
            <a:blipFill>
              <a:blip r:embed="rId3"/>
              <a:stretch>
                <a:fillRect l="-14987" r="-14987"/>
              </a:stretch>
            </a:blipFill>
            <a:ln w="104775" cap="sq">
              <a:gradFill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9D5EE4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  <p:txBody>
            <a:bodyPr/>
            <a:lstStyle/>
            <a:p>
              <a:endParaRPr lang="en-PL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542434" y="3831439"/>
            <a:ext cx="3297826" cy="2855769"/>
            <a:chOff x="0" y="0"/>
            <a:chExt cx="4282440" cy="37084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282440" cy="3708400"/>
            </a:xfrm>
            <a:custGeom>
              <a:avLst/>
              <a:gdLst/>
              <a:ahLst/>
              <a:cxnLst/>
              <a:rect l="l" t="t" r="r" b="b"/>
              <a:pathLst>
                <a:path w="4282440" h="3708400">
                  <a:moveTo>
                    <a:pt x="3211830" y="0"/>
                  </a:moveTo>
                  <a:lnTo>
                    <a:pt x="1070610" y="0"/>
                  </a:lnTo>
                  <a:lnTo>
                    <a:pt x="0" y="1854200"/>
                  </a:lnTo>
                  <a:lnTo>
                    <a:pt x="1070610" y="3708400"/>
                  </a:lnTo>
                  <a:lnTo>
                    <a:pt x="3211830" y="3708400"/>
                  </a:lnTo>
                  <a:lnTo>
                    <a:pt x="4282440" y="1854200"/>
                  </a:lnTo>
                  <a:close/>
                </a:path>
              </a:pathLst>
            </a:custGeom>
            <a:blipFill>
              <a:blip r:embed="rId4"/>
              <a:stretch>
                <a:fillRect l="-32081" r="-32081"/>
              </a:stretch>
            </a:blipFill>
            <a:ln w="104775" cap="sq">
              <a:gradFill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9D5EE4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  <p:txBody>
            <a:bodyPr/>
            <a:lstStyle/>
            <a:p>
              <a:endParaRPr lang="en-PL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123476" y="3741846"/>
            <a:ext cx="3297826" cy="2855769"/>
            <a:chOff x="0" y="0"/>
            <a:chExt cx="4282440" cy="37084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282440" cy="3708400"/>
            </a:xfrm>
            <a:custGeom>
              <a:avLst/>
              <a:gdLst/>
              <a:ahLst/>
              <a:cxnLst/>
              <a:rect l="l" t="t" r="r" b="b"/>
              <a:pathLst>
                <a:path w="4282440" h="3708400">
                  <a:moveTo>
                    <a:pt x="3211830" y="0"/>
                  </a:moveTo>
                  <a:lnTo>
                    <a:pt x="1070610" y="0"/>
                  </a:lnTo>
                  <a:lnTo>
                    <a:pt x="0" y="1854200"/>
                  </a:lnTo>
                  <a:lnTo>
                    <a:pt x="1070610" y="3708400"/>
                  </a:lnTo>
                  <a:lnTo>
                    <a:pt x="3211830" y="3708400"/>
                  </a:lnTo>
                  <a:lnTo>
                    <a:pt x="4282440" y="1854200"/>
                  </a:lnTo>
                  <a:close/>
                </a:path>
              </a:pathLst>
            </a:custGeom>
            <a:blipFill>
              <a:blip r:embed="rId5"/>
              <a:stretch>
                <a:fillRect l="-7730" r="-7730"/>
              </a:stretch>
            </a:blipFill>
            <a:ln w="104775" cap="sq">
              <a:gradFill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9D5EE4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  <p:txBody>
            <a:bodyPr/>
            <a:lstStyle/>
            <a:p>
              <a:endParaRPr lang="en-PL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2416373" y="3567133"/>
            <a:ext cx="843381" cy="843381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100000"/>
                  </a:srgbClr>
                </a:gs>
                <a:gs pos="100000">
                  <a:srgbClr val="9D5EE4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PL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3816702" y="1784299"/>
            <a:ext cx="10654596" cy="15624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41"/>
              </a:lnSpc>
            </a:pPr>
            <a:r>
              <a:rPr lang="en-US" sz="11120">
                <a:solidFill>
                  <a:srgbClr val="FFFFFF"/>
                </a:solidFill>
                <a:latin typeface="Codec Pro Bold"/>
              </a:rPr>
              <a:t>Methodology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686988" y="6876739"/>
            <a:ext cx="2756597" cy="433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86"/>
              </a:lnSpc>
              <a:spcBef>
                <a:spcPct val="0"/>
              </a:spcBef>
            </a:pPr>
            <a:r>
              <a:rPr lang="en-US" sz="2418">
                <a:solidFill>
                  <a:srgbClr val="FA85E2"/>
                </a:solidFill>
                <a:latin typeface="Poppins"/>
              </a:rPr>
              <a:t>Data Collection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6421303" y="800264"/>
            <a:ext cx="986517" cy="686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27"/>
              </a:lnSpc>
              <a:spcBef>
                <a:spcPct val="0"/>
              </a:spcBef>
            </a:pPr>
            <a:r>
              <a:rPr lang="en-US" sz="3590">
                <a:solidFill>
                  <a:srgbClr val="FFFFFF"/>
                </a:solidFill>
                <a:latin typeface="Academy"/>
              </a:rPr>
              <a:t>04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7900647" y="3446880"/>
            <a:ext cx="843381" cy="843381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100000"/>
                  </a:srgbClr>
                </a:gs>
                <a:gs pos="100000">
                  <a:srgbClr val="9D5EE4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PL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3479352" y="3320156"/>
            <a:ext cx="843381" cy="843381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100000"/>
                  </a:srgbClr>
                </a:gs>
                <a:gs pos="100000">
                  <a:srgbClr val="9D5EE4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PL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7813049" y="6876739"/>
            <a:ext cx="2756597" cy="433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86"/>
              </a:lnSpc>
              <a:spcBef>
                <a:spcPct val="0"/>
              </a:spcBef>
            </a:pPr>
            <a:r>
              <a:rPr lang="en-US" sz="2418">
                <a:solidFill>
                  <a:srgbClr val="FA85E2"/>
                </a:solidFill>
                <a:latin typeface="Poppins"/>
              </a:rPr>
              <a:t>Preprocessing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123476" y="6962464"/>
            <a:ext cx="3071287" cy="3410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67"/>
              </a:lnSpc>
            </a:pPr>
            <a:r>
              <a:rPr lang="en-US" sz="2418">
                <a:solidFill>
                  <a:srgbClr val="FA85E2"/>
                </a:solidFill>
                <a:latin typeface="Poppins"/>
              </a:rPr>
              <a:t>Model Selection 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299289" y="7387624"/>
            <a:ext cx="3531995" cy="648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9"/>
              </a:lnSpc>
              <a:spcBef>
                <a:spcPct val="0"/>
              </a:spcBef>
            </a:pPr>
            <a:r>
              <a:rPr lang="en-US" sz="1828">
                <a:solidFill>
                  <a:srgbClr val="FFFFFF"/>
                </a:solidFill>
                <a:latin typeface="Poppins"/>
              </a:rPr>
              <a:t>Gather relevant data from diverse sources.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795202" y="7387624"/>
            <a:ext cx="2792291" cy="648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9"/>
              </a:lnSpc>
              <a:spcBef>
                <a:spcPct val="0"/>
              </a:spcBef>
            </a:pPr>
            <a:r>
              <a:rPr lang="en-US" sz="1828">
                <a:solidFill>
                  <a:srgbClr val="FFFFFF"/>
                </a:solidFill>
                <a:latin typeface="Poppins"/>
              </a:rPr>
              <a:t>Clean, normalize, and engineer data.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2646493" y="7387624"/>
            <a:ext cx="4025253" cy="972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9"/>
              </a:lnSpc>
              <a:spcBef>
                <a:spcPct val="0"/>
              </a:spcBef>
            </a:pPr>
            <a:r>
              <a:rPr lang="en-US" sz="1828">
                <a:solidFill>
                  <a:srgbClr val="FFFFFF"/>
                </a:solidFill>
                <a:latin typeface="Poppins"/>
              </a:rPr>
              <a:t>Choose and train ML/DL algorithms for peak performance.</a:t>
            </a:r>
          </a:p>
          <a:p>
            <a:pPr algn="ctr">
              <a:lnSpc>
                <a:spcPts val="2559"/>
              </a:lnSpc>
              <a:spcBef>
                <a:spcPct val="0"/>
              </a:spcBef>
            </a:pPr>
            <a:endParaRPr lang="en-US" sz="1828">
              <a:solidFill>
                <a:srgbClr val="FFFFFF"/>
              </a:solidFill>
              <a:latin typeface="Poppi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333" b="-9333"/>
            </a:stretch>
          </a:blipFill>
        </p:spPr>
        <p:txBody>
          <a:bodyPr/>
          <a:lstStyle/>
          <a:p>
            <a:endParaRPr lang="en-PL" dirty="0"/>
          </a:p>
        </p:txBody>
      </p:sp>
      <p:sp>
        <p:nvSpPr>
          <p:cNvPr id="3" name="Freeform 3"/>
          <p:cNvSpPr/>
          <p:nvPr/>
        </p:nvSpPr>
        <p:spPr>
          <a:xfrm>
            <a:off x="4517060" y="717473"/>
            <a:ext cx="8852053" cy="8852053"/>
          </a:xfrm>
          <a:custGeom>
            <a:avLst/>
            <a:gdLst/>
            <a:ahLst/>
            <a:cxnLst/>
            <a:rect l="l" t="t" r="r" b="b"/>
            <a:pathLst>
              <a:path w="8852053" h="8852053">
                <a:moveTo>
                  <a:pt x="0" y="0"/>
                </a:moveTo>
                <a:lnTo>
                  <a:pt x="8852053" y="0"/>
                </a:lnTo>
                <a:lnTo>
                  <a:pt x="8852053" y="8852054"/>
                </a:lnTo>
                <a:lnTo>
                  <a:pt x="0" y="885205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L"/>
          </a:p>
        </p:txBody>
      </p:sp>
      <p:sp>
        <p:nvSpPr>
          <p:cNvPr id="4" name="Freeform 4"/>
          <p:cNvSpPr/>
          <p:nvPr/>
        </p:nvSpPr>
        <p:spPr>
          <a:xfrm>
            <a:off x="11757340" y="9361396"/>
            <a:ext cx="7315200" cy="1077329"/>
          </a:xfrm>
          <a:custGeom>
            <a:avLst/>
            <a:gdLst/>
            <a:ahLst/>
            <a:cxnLst/>
            <a:rect l="l" t="t" r="r" b="b"/>
            <a:pathLst>
              <a:path w="7315200" h="1077329">
                <a:moveTo>
                  <a:pt x="0" y="0"/>
                </a:moveTo>
                <a:lnTo>
                  <a:pt x="7315200" y="0"/>
                </a:lnTo>
                <a:lnTo>
                  <a:pt x="7315200" y="1077329"/>
                </a:lnTo>
                <a:lnTo>
                  <a:pt x="0" y="107732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23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L"/>
          </a:p>
        </p:txBody>
      </p:sp>
      <p:sp>
        <p:nvSpPr>
          <p:cNvPr id="5" name="Freeform 5"/>
          <p:cNvSpPr/>
          <p:nvPr/>
        </p:nvSpPr>
        <p:spPr>
          <a:xfrm>
            <a:off x="-2337543" y="409815"/>
            <a:ext cx="7315200" cy="1077329"/>
          </a:xfrm>
          <a:custGeom>
            <a:avLst/>
            <a:gdLst/>
            <a:ahLst/>
            <a:cxnLst/>
            <a:rect l="l" t="t" r="r" b="b"/>
            <a:pathLst>
              <a:path w="7315200" h="1077329">
                <a:moveTo>
                  <a:pt x="0" y="0"/>
                </a:moveTo>
                <a:lnTo>
                  <a:pt x="7315200" y="0"/>
                </a:lnTo>
                <a:lnTo>
                  <a:pt x="7315200" y="1077330"/>
                </a:lnTo>
                <a:lnTo>
                  <a:pt x="0" y="107733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23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L"/>
          </a:p>
        </p:txBody>
      </p:sp>
      <p:sp>
        <p:nvSpPr>
          <p:cNvPr id="6" name="Freeform 6"/>
          <p:cNvSpPr/>
          <p:nvPr/>
        </p:nvSpPr>
        <p:spPr>
          <a:xfrm>
            <a:off x="2055059" y="9066332"/>
            <a:ext cx="500017" cy="500017"/>
          </a:xfrm>
          <a:custGeom>
            <a:avLst/>
            <a:gdLst/>
            <a:ahLst/>
            <a:cxnLst/>
            <a:rect l="l" t="t" r="r" b="b"/>
            <a:pathLst>
              <a:path w="500017" h="500017">
                <a:moveTo>
                  <a:pt x="0" y="0"/>
                </a:moveTo>
                <a:lnTo>
                  <a:pt x="500017" y="0"/>
                </a:lnTo>
                <a:lnTo>
                  <a:pt x="500017" y="500018"/>
                </a:lnTo>
                <a:lnTo>
                  <a:pt x="0" y="50001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L"/>
          </a:p>
        </p:txBody>
      </p:sp>
      <p:sp>
        <p:nvSpPr>
          <p:cNvPr id="7" name="Freeform 7"/>
          <p:cNvSpPr/>
          <p:nvPr/>
        </p:nvSpPr>
        <p:spPr>
          <a:xfrm>
            <a:off x="12337085" y="9149291"/>
            <a:ext cx="405695" cy="266283"/>
          </a:xfrm>
          <a:custGeom>
            <a:avLst/>
            <a:gdLst/>
            <a:ahLst/>
            <a:cxnLst/>
            <a:rect l="l" t="t" r="r" b="b"/>
            <a:pathLst>
              <a:path w="405695" h="266283">
                <a:moveTo>
                  <a:pt x="0" y="0"/>
                </a:moveTo>
                <a:lnTo>
                  <a:pt x="405694" y="0"/>
                </a:lnTo>
                <a:lnTo>
                  <a:pt x="405694" y="266283"/>
                </a:lnTo>
                <a:lnTo>
                  <a:pt x="0" y="26628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L"/>
          </a:p>
        </p:txBody>
      </p:sp>
      <p:sp>
        <p:nvSpPr>
          <p:cNvPr id="8" name="TextBox 8"/>
          <p:cNvSpPr txBox="1"/>
          <p:nvPr/>
        </p:nvSpPr>
        <p:spPr>
          <a:xfrm>
            <a:off x="4517060" y="4302440"/>
            <a:ext cx="9253880" cy="15624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41"/>
              </a:lnSpc>
            </a:pPr>
            <a:r>
              <a:rPr lang="en-US" sz="11120">
                <a:solidFill>
                  <a:srgbClr val="FFFFFF"/>
                </a:solidFill>
                <a:latin typeface="Codec Pro Bold"/>
              </a:rPr>
              <a:t>Thank You!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758332" y="9213396"/>
            <a:ext cx="2552485" cy="315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6"/>
              </a:lnSpc>
            </a:pPr>
            <a:r>
              <a:rPr lang="en-US" sz="2243">
                <a:solidFill>
                  <a:srgbClr val="FFFFFF"/>
                </a:solidFill>
                <a:latin typeface="Codec Pro Bold"/>
              </a:rPr>
              <a:t>504140633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961854" y="9168341"/>
            <a:ext cx="4523127" cy="315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6"/>
              </a:lnSpc>
            </a:pPr>
            <a:r>
              <a:rPr lang="en-US" sz="2243" dirty="0">
                <a:solidFill>
                  <a:srgbClr val="FFFFFF"/>
                </a:solidFill>
                <a:latin typeface="Codec Pro Bold"/>
              </a:rPr>
              <a:t>alperenv76@gmail.com</a:t>
            </a:r>
          </a:p>
        </p:txBody>
      </p:sp>
      <p:sp>
        <p:nvSpPr>
          <p:cNvPr id="11" name="Freeform 11"/>
          <p:cNvSpPr/>
          <p:nvPr/>
        </p:nvSpPr>
        <p:spPr>
          <a:xfrm>
            <a:off x="6276017" y="9066332"/>
            <a:ext cx="5481323" cy="500017"/>
          </a:xfrm>
          <a:custGeom>
            <a:avLst/>
            <a:gdLst/>
            <a:ahLst/>
            <a:cxnLst/>
            <a:rect l="l" t="t" r="r" b="b"/>
            <a:pathLst>
              <a:path w="5481323" h="500017">
                <a:moveTo>
                  <a:pt x="0" y="0"/>
                </a:moveTo>
                <a:lnTo>
                  <a:pt x="5481323" y="0"/>
                </a:lnTo>
                <a:lnTo>
                  <a:pt x="5481323" y="500018"/>
                </a:lnTo>
                <a:lnTo>
                  <a:pt x="0" y="50001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L"/>
          </a:p>
        </p:txBody>
      </p:sp>
      <p:sp>
        <p:nvSpPr>
          <p:cNvPr id="12" name="TextBox 12"/>
          <p:cNvSpPr txBox="1"/>
          <p:nvPr/>
        </p:nvSpPr>
        <p:spPr>
          <a:xfrm>
            <a:off x="6830799" y="9150923"/>
            <a:ext cx="5506286" cy="283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FFFFFF"/>
                </a:solidFill>
                <a:latin typeface="Poppins Bold"/>
              </a:rPr>
              <a:t>https://www.linkedin.com/in/vanlioglu/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D8BC3ED-8500-939F-D554-29FB0E2BFA85}"/>
              </a:ext>
            </a:extLst>
          </p:cNvPr>
          <p:cNvSpPr txBox="1"/>
          <p:nvPr/>
        </p:nvSpPr>
        <p:spPr>
          <a:xfrm>
            <a:off x="12759116" y="8518349"/>
            <a:ext cx="4523127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2086"/>
              </a:lnSpc>
            </a:pPr>
            <a:r>
              <a:rPr lang="en-US" sz="2400" dirty="0">
                <a:solidFill>
                  <a:srgbClr val="FFFFFF"/>
                </a:solidFill>
                <a:latin typeface="Codec Pro Bold"/>
              </a:rPr>
              <a:t>YASAR ALPEREN VANLIOGLU</a:t>
            </a:r>
          </a:p>
          <a:p>
            <a:pPr algn="l">
              <a:lnSpc>
                <a:spcPts val="2086"/>
              </a:lnSpc>
            </a:pPr>
            <a:endParaRPr lang="en-US" sz="1800" dirty="0">
              <a:solidFill>
                <a:srgbClr val="FFFFFF"/>
              </a:solidFill>
              <a:latin typeface="Codec Pro 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616</TotalTime>
  <Words>196</Words>
  <Application>Microsoft Macintosh PowerPoint</Application>
  <PresentationFormat>Custom</PresentationFormat>
  <Paragraphs>22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3" baseType="lpstr">
      <vt:lpstr>Aptos</vt:lpstr>
      <vt:lpstr>Arial</vt:lpstr>
      <vt:lpstr>Codec Pro Bold</vt:lpstr>
      <vt:lpstr>Poppins Bold</vt:lpstr>
      <vt:lpstr>Poppins</vt:lpstr>
      <vt:lpstr>Academy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Purple Futuristic Modern Artificial Intelligence Project Presentation</dc:title>
  <cp:lastModifiedBy>Yasar 84493</cp:lastModifiedBy>
  <cp:revision>6</cp:revision>
  <dcterms:created xsi:type="dcterms:W3CDTF">2006-08-16T00:00:00Z</dcterms:created>
  <dcterms:modified xsi:type="dcterms:W3CDTF">2025-01-15T22:18:12Z</dcterms:modified>
  <dc:identifier>DAGGd3GKEaQ</dc:identifier>
</cp:coreProperties>
</file>